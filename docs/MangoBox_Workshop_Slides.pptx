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E7D3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114800" cy="4114800"/>
          </a:xfrm>
          <a:prstGeom prst="ellipse">
            <a:avLst/>
          </a:prstGeom>
          <a:solidFill>
            <a:srgbClr val="F4C430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WORKSHOP · ESP32 · 6 ชั่วโมง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4360" y="1783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MangoBox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วัดแก๊สเอทิลีน และพิสูจน์ว่าเอทิลีนเร่งการสุกของผลไม้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เครื่องวัดความสุกใช้จริง (METER) + ชุดทดลองพิสูจน์เหตุ–ผล (LAB) ในบอร์ดเดียว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4348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วิทยากร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ผศ.ดร.สัญชัย เอียดปราบ  (ESCE, คณะวิศวกรรมศาสตร์ ม.บูรพา)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ผู้เข้าอบรม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ครูและนักเรียน โรงเรียนพลูตาหลวงวิทยา (ทีมแพรกษาวิชาการ ครั้งที่ 31)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วันจันทร์ที่ 13 กรกฎาคม 2569  ณ คณะวิศวกรรมศาสตร์ มหาวิทยาลัยบูรพา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วันนี้เราจะได้สร้างและเข้าใจอะไรบ้าง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1640" y="1920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ประกอบ "กล่องวัดเอทิลีน"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14400" y="26974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ระบบปิดที่วัดระดับแก๊สเอทิลีนได้จริง ด้วย ESP32-S3 + เซ็นเซอร์ 3 ตัว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12648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9480" y="1920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 "เอทิลีน"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492240" y="269748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ฮอร์โมนแก๊สที่ "เร่ง" ให้ผลไม้สุก และวิธีวัดด้วยเซ็นเซอร์แก๊ส SGP30 (TVOC)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5196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91640" y="4251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ใช้จริง + ทำโครงงาน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914400" y="50292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 METER คัดผลไม้ได้ทันที · โหมด LAB ทดลอง 4 กล่องพิสูจน์เหตุ–ผล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12648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25196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69480" y="42519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เก็บข้อมูล + นำเสนอ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6492240" y="50292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บันทึกหลายวัน พล็อตกราฟความสัมพันธ์ พร้อมไปแข่งแพรกษาวิชาการ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วิทยาศาสตร์เบื้องหลัง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เอทิลีน — "ฮอร์โมนการสุก" ของผลไม้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65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เกิดอะไรขึ้นเมื่อผลไม้สุก?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14400" y="269748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ผลไม้ปล่อยแก๊ส เอทิลีน (C₂H₄) ออกมาเอง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เอทิลีนเป็นตัวเร่ง/สั่งให้ผลไม้สุกต่อ — ยิ่งสุกยิ่งปล่อยมาก (autocatalytic)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พร้อมกันนั้น แป้ง → น้ำตาล, เปลือกเปลี่ยนสี เขียว → เหลือง, เนื้อนิ่มลง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"ผลไม้ 1 ลูกสุก ทำให้ลูกข้าง ๆ สุกตาม" คือเอทิลีนกำลังทำงาน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766560" y="1645920"/>
            <a:ext cx="4846320" cy="4480560"/>
          </a:xfrm>
          <a:prstGeom prst="roundRect">
            <a:avLst>
              <a:gd name="adj" fmla="val 2041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086600" y="1920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เราวัดอะไรได้บ้าง?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086600" y="251460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23412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432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55280" y="2624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กลิ่น/แก๊สที่ระเหย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955280" y="29900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SGP30 (TVOC, ppb)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086600" y="361188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23412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8404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55280" y="37216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สีเปลือกที่เปลี่ยน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955280" y="40873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เซ็นเซอร์สี (TCS34725)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086600" y="470916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23412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93776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55280" y="48188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อุณหภูมิ/ความชื้น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7955280" y="51846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BME280 (ตัวแปรร่วม)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หัวใจของการทดลอง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ทำไมต้องเป็น "ระบบปิด" (Closed Chamber)?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BE9E7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เอทิลีนจากมะม่วง 1 ลูกมีปริมาณน้อยมาก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ถ้าวัดในที่โล่ง แก๊สจะฟุ้งหายไปทันที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เซ็นเซอร์แทบจับความเปลี่ยนแปลงไม่ได้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3657600"/>
            <a:ext cx="548640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983480" y="1691640"/>
            <a:ext cx="6629400" cy="4297680"/>
          </a:xfrm>
          <a:prstGeom prst="roundRect">
            <a:avLst>
              <a:gd name="adj" fmla="val 2128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303520" y="19659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วิธีแก้: ขังแก๊สให้เข้มข้นขึ้น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303520" y="251460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52160" y="24505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ขังในกล่อง/ถุงพลาสติกใส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852160" y="279806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แก๊สสะสมเข้มข้นขึ้นเรื่อย ๆ วัดค่าความต่างได้ชัด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303520" y="335584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852160" y="32918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ใส่พัดลมจิ๋วกวนอากาศ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852160" y="363931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ค่าเซ็นเซอร์นิ่งและสม่ำเสมอทั่วทั้งกล่อง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303520" y="419709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0" y="4197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852160" y="413308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เทียบกับ "กล่องเปล่า" (control)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5852160" y="448056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เห็นชัดว่าค่าที่สูงขึ้นมาจากผลไม้จริง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303520" y="50383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0"/>
          <p:cNvSpPr/>
          <p:nvPr/>
        </p:nvSpPr>
        <p:spPr>
          <a:xfrm>
            <a:off x="5303520" y="5038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852160" y="497433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เพิ่มสารดูดซับเอทิลีน (KMnO₄)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5852160" y="532180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ทดลองได้ว่าตัวดูดซับช่วยชะลอการสุกจริงไหม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สถาปัตยกรรมระบบ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ภาพรวมระบบ: เซ็นเซอร์ → สมอง → แสดงผล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566928" cy="56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21671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SGP30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554480" y="25877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แก๊ส TVOC (ppb)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383280" y="2537460"/>
            <a:ext cx="77724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114800" y="2491740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" y="338328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57600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58444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TCS34725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554480" y="40050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สีเปลือก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383280" y="3954780"/>
            <a:ext cx="77724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114800" y="3909060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Shape 12"/>
          <p:cNvSpPr/>
          <p:nvPr/>
        </p:nvSpPr>
        <p:spPr>
          <a:xfrm>
            <a:off x="640080" y="480060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74920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50017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BME280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554480" y="54223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อุณหภูมิ/ชื้น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383280" y="5372100"/>
            <a:ext cx="77724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114800" y="5326380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Shape 17"/>
          <p:cNvSpPr/>
          <p:nvPr/>
        </p:nvSpPr>
        <p:spPr>
          <a:xfrm>
            <a:off x="4160520" y="2537460"/>
            <a:ext cx="0" cy="283464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160520" y="3657600"/>
            <a:ext cx="640080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25" name="Text 19"/>
          <p:cNvSpPr/>
          <p:nvPr/>
        </p:nvSpPr>
        <p:spPr>
          <a:xfrm>
            <a:off x="3657600" y="5440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I2C bus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00600" y="278892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1F3D2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017520"/>
            <a:ext cx="914400" cy="9144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00600" y="3886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ESP32-S3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4800600" y="42611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อ่านค่า · คำนวณ · WiFi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360920" y="3657600"/>
            <a:ext cx="77724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8275320" y="19659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240280"/>
            <a:ext cx="566928" cy="5669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89720" y="21671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 OLED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9189720" y="25877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แสดงค่า real-time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8275320" y="338328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3657600"/>
            <a:ext cx="566928" cy="5669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189720" y="35844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Serial Plotter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9189720" y="40050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 + บันทึก CSV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8275320" y="480060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5074920"/>
            <a:ext cx="566928" cy="56692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89720" y="50017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WiFi</a:t>
            </a:r>
            <a:endParaRPr lang="en-US" sz="1600" dirty="0"/>
          </a:p>
        </p:txBody>
      </p:sp>
      <p:sp>
        <p:nvSpPr>
          <p:cNvPr id="42" name="Text 32"/>
          <p:cNvSpPr/>
          <p:nvPr/>
        </p:nvSpPr>
        <p:spPr>
          <a:xfrm>
            <a:off x="9189720" y="5422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ดูจากมือถือ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อุปกรณ์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ทำความรู้จักเซ็นเซอร์ในกล่อง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SGP30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737360" y="2395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แก๊ส TVOC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480560" y="19659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I2C 0x58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14400" y="2880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วัดสารระเหยรวม (พร็อกซี่ของเอทิลีน) เป็น ppb + eCO2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72200" y="16459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65960"/>
            <a:ext cx="685800" cy="685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6092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TCS34725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360920" y="2395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เซ็นเซอร์สี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104120" y="19659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I2C 0x29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537960" y="2880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อ่านค่า RGB ของเปลือก — ช่องทางที่ชัวร์ที่สุด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06240"/>
            <a:ext cx="685800" cy="685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BME280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737360" y="4636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อุณหภูมิ/ชื้น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480560" y="4206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I2C 0x76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14400" y="5120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ใช้ชดเชยค่าแก๊สให้แม่นขึ้น + เป็นตัวแปรร่วม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172200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1F1F1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206240"/>
            <a:ext cx="685800" cy="6858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6092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OLED 0.96"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7360920" y="4636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จอแสดงผล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0104120" y="4206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I2C 0x3C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537960" y="5120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SSD1306 แสดงค่าและแถบความสุกแบบเรียลไทม์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เจาะลึกเซ็นเซอร์แก๊ส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SGP30 กับค่า "TVOC (ppb)" ที่ต้องเข้าใจ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943600" cy="4434840"/>
          </a:xfrm>
          <a:prstGeom prst="roundRect">
            <a:avLst>
              <a:gd name="adj" fmla="val 2062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SGP30 ให้ค่าอะไร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TVOC (ppb)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ปริมาณสารระเหยรวมในอากาศ — อากาศสะอาด ≈ 0 ppb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ผลไม้สุกปล่อยสารระเหยมาก → ตัวเลขยิ่งสูง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eCO2 (ppm) — ของแถม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เป็นค่า "ประมาณ" จากไฮโดรเจน ไม่ใช่ CO₂ จริง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20840" y="1645920"/>
            <a:ext cx="4892040" cy="4434840"/>
          </a:xfrm>
          <a:prstGeom prst="roundRect">
            <a:avLst>
              <a:gd name="adj" fmla="val 2062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9202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35240" y="1938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 (สำคัญมาก)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040880" y="260604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อุ่นเครื่อง 15 วินาที</a:t>
            </a:r>
            <a:endParaRPr lang="en-US" sz="14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0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ช่วงแรกจะขึ้น 0 ppb เสมอ — เป็นเรื่องปกติ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ต้องมี Baseline ถึงจะแม่น</a:t>
            </a:r>
            <a:endParaRPr lang="en-US" sz="14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FE0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โปรแกรมเก็บ/คืนค่าให้อัตโนมัติ (ทุก 1 ชม.)</a:t>
            </a:r>
            <a:endParaRPr lang="en-US" sz="14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ครั้งแรกควรเสียบทิ้งไว้ ~12 ชม. (burn-in)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หัวใจของโปรเจกต์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"เหตุ" ออกจาก "ผล" — ห้ามรวมกัน!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เราจะพิสูจน์ว่า เอทิลีน (เหตุ) เป็นตัวเร่งการสุก (ผล) จึงต้องวัดสองอย่างนี้แยกกันเป็นคนละค่า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057400"/>
            <a:ext cx="82296" cy="2834640"/>
          </a:xfrm>
          <a:prstGeom prst="rect">
            <a:avLst/>
          </a:prstGeom>
          <a:solidFill>
            <a:srgbClr val="E57E2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3317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73736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ตัวแปรต้น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32004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ระดับแก๊สเอทิลีน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วัดด้วย SGP30 → TVOC (ppb)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ยิ่งมีเอทิลีนมาก ค่ายิ่งสูง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983480" y="3383280"/>
            <a:ext cx="1417320" cy="0"/>
          </a:xfrm>
          <a:prstGeom prst="line">
            <a:avLst/>
          </a:prstGeom>
          <a:noFill/>
          <a:ln w="50800">
            <a:solidFill>
              <a:srgbClr val="1F3D2B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4892040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เร่งให้เกิด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37960" y="205740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2057400"/>
            <a:ext cx="82296" cy="283464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317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3524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635240" y="2697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ตัวแปรตาม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58000" y="32004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อัตราการสุก (%/วัน)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วัดด้วย TCS34725 → สีเปลี่ยนเร็วแค่ไหน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ไม่ใช่ "ความสุก ณ จุดเดียว"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40080" y="5120640"/>
            <a:ext cx="10927080" cy="1005840"/>
          </a:xfrm>
          <a:prstGeom prst="roundRect">
            <a:avLst>
              <a:gd name="adj" fmla="val 9091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492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2120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ถ้าเอาสีกับแก๊สมารวมเป็นคะแนนเดียว = เอา "เหตุ" ปนกับ "ผล" แล้วจะพิสูจน์ความสัมพันธ์ไม่ได้เลย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หนึ่งกล่อง สองการใช้งาน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 METER (ใช้จริง) และโหมด LAB (โครงงาน)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เซ็นเซอร์ชุดเดียวกัน ข้อมูลชุดเดียวกัน — ต่างกันแค่ "จะเอาไปตอบคำถามอะไร"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860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METER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69164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เอาไปใช้จริง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60120" y="3108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"มะม่วงลูกนี้กินได้หรือยัง?"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60120" y="3611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รวมสี (60%) + แก๊ส (40%) เป็นคะแนนเดียว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จอโชว์: ความสุก 0–100% + ดิบ / พอดี / งอม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ใช้คัดผลไม้ ตรวจก่อนกิน / ก่อนส่งขาย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63640" y="201168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8600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731520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ทำโครงงาน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583680" y="3108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"เอทิลีนเร่งการสุกจริงไหม?"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83680" y="3611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แยกเหตุ (เอทิลีน) กับ ผล (การสุก) — ไม่รวมกัน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จอโชว์: ETHYLENE | RIPE + อัตราการสุก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ใช้ทดลอง 4 กล่อง เก็บข้อมูลข้ามวัน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5257800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8640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537667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สลับโหมด: กดปุ่ม BOOT ค้าง 2 วินาที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(ปุ่มนี้มีอยู่บนบอร์ดแล้ว ไม่ต้องต่อเพิ่ม)  ·  CSV ส่งออกครบทุกคอลัมน์เสมอ ไม่ว่าอยู่โหมดไหน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การเชื่อมต่อ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I2C: สายสองเส้น ใช้ร่วมกันทุกตัว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852160" cy="4389120"/>
          </a:xfrm>
          <a:prstGeom prst="roundRect">
            <a:avLst>
              <a:gd name="adj" fmla="val 2083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 I2C สะดวก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ใช้แค่ 2 สายข้อมูล: SDA และ SCL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อุปกรณ์ทุกตัวต่อขนานบนสายเดียวกัน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แยกกันด้วย "ที่อยู่ (address)" ที่ไม่ซ้ำ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เพิ่มเซ็นเซอร์ได้ง่าย ไม่ต้องเดินสายใหม่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ESP32-S3: SDA = GPIO8, SCL = GPIO9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629400" y="1691640"/>
            <a:ext cx="49834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03720" y="19202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ที่อยู่ (address) ของแต่ละตัว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423160"/>
          <a:ext cx="4434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916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หน้าที่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Address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TCS34725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สี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0x29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OLED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จอ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0x3C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SGP30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แก๊ส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0x58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BME280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อุณหภูมิ/ชื้น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0x76/0x77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903720" y="5532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ถ้าตัวไหนหาไม่เจอ ใช้สเก็ตช์ i2c_scanner เช็กสายได้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ลงมือต่อวงจร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การต่อสาย: ราง (+)/(–) และบัส I2C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103120" y="2103120"/>
            <a:ext cx="4297680" cy="0"/>
          </a:xfrm>
          <a:prstGeom prst="line">
            <a:avLst/>
          </a:prstGeom>
          <a:noFill/>
          <a:ln w="38100">
            <a:solidFill>
              <a:srgbClr val="D645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19568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3V3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103120" y="2606040"/>
            <a:ext cx="4297680" cy="0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24597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03120" y="3108960"/>
            <a:ext cx="429768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9626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SDA (8)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03120" y="3611880"/>
            <a:ext cx="429768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34655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SCL (9)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2057400"/>
            <a:ext cx="1051560" cy="1737360"/>
          </a:xfrm>
          <a:prstGeom prst="roundRect">
            <a:avLst>
              <a:gd name="adj" fmla="val 6957"/>
            </a:avLst>
          </a:prstGeom>
          <a:solidFill>
            <a:srgbClr val="1F3D2B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7432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ESP32-S3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14600" y="118872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EAF4E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14600" y="12344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SGP30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66060" y="1737360"/>
            <a:ext cx="0" cy="365760"/>
          </a:xfrm>
          <a:prstGeom prst="line">
            <a:avLst/>
          </a:prstGeom>
          <a:noFill/>
          <a:ln w="19050">
            <a:solidFill>
              <a:srgbClr val="D645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11780" y="1737360"/>
            <a:ext cx="0" cy="8686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57500" y="1737360"/>
            <a:ext cx="0" cy="137160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03220" y="1737360"/>
            <a:ext cx="0" cy="187452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20440" y="118872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EAF4E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20440" y="12344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771900" y="1737360"/>
            <a:ext cx="0" cy="365760"/>
          </a:xfrm>
          <a:prstGeom prst="line">
            <a:avLst/>
          </a:prstGeom>
          <a:noFill/>
          <a:ln w="19050">
            <a:solidFill>
              <a:srgbClr val="D6454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17620" y="1737360"/>
            <a:ext cx="0" cy="8686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63340" y="1737360"/>
            <a:ext cx="0" cy="137160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09060" y="1737360"/>
            <a:ext cx="0" cy="187452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118872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EAF4EC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26280" y="12344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BME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77740" y="1737360"/>
            <a:ext cx="0" cy="365760"/>
          </a:xfrm>
          <a:prstGeom prst="line">
            <a:avLst/>
          </a:prstGeom>
          <a:noFill/>
          <a:ln w="19050">
            <a:solidFill>
              <a:srgbClr val="D6454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23460" y="1737360"/>
            <a:ext cx="0" cy="8686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69180" y="1737360"/>
            <a:ext cx="0" cy="137160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14900" y="1737360"/>
            <a:ext cx="0" cy="187452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960" y="41148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เซ็นเซอร์ทุกตัวต่อ 4 สายเหมือนกัน: VCC→3V3, GND→GND, SDA→GPIO8, SCL→GPIO9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7315200" y="1691640"/>
            <a:ext cx="4297680" cy="4389120"/>
          </a:xfrm>
          <a:prstGeom prst="roundRect">
            <a:avLst>
              <a:gd name="adj" fmla="val 2128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589520" y="1920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ตารางต่อสาย (สรุป)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377440"/>
          <a:ext cx="37490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783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ขาเซ็นเซอร์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→ ESP32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VCC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3V3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GND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GND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SDA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GPIO8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SCL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GPIO9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พัดลม (คุม)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GPIO10*</a:t>
                      </a:r>
                      <a:endParaRPr lang="en-US" sz="13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 33"/>
          <p:cNvSpPr/>
          <p:nvPr/>
        </p:nvSpPr>
        <p:spPr>
          <a:xfrm>
            <a:off x="7589520" y="5440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 พัดลมต่อผ่านทรานซิสเตอร์ ไม่ต่อกับ GPIO ตรง ๆ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จากการทดสอบจริง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กับดักที่จะเจอแน่นอน — รู้ไว้ก่อน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ทั้งหมดนี้เจอจริงตอนทดสอบ ไม่ใช่ทฤษฎี — เตรียมใจไว้ จะไม่เสียเวลาหน้างาน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E57E2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USB CDC On Boot = Enabled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ถ้าไม่เปิด → Serial Monitor เงียบสนิท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(เจอบ่อยสุด นักเรียนจะนึกว่าโค้ดพัง)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51960" y="20116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22402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74920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RGB LED อยู่ GPIO48 ไม่ใช่ 38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26280" y="2834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บอร์ดโคลนย้ายขา และต้องใช้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neopixelWrite() ไม่ใช่ digitalWrite()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55280" y="201168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BE9E7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83880" y="22402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5"/>
          <p:cNvSpPr/>
          <p:nvPr/>
        </p:nvSpPr>
        <p:spPr>
          <a:xfrm>
            <a:off x="81838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778240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อย่าเชื่อ begin() — โกหกได้!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229600" y="2834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SSD1306.begin() คืน true ทั้งที่ไม่ได้ต่อจอ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ต้องเช็ก I2C ACK เอง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E57E25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ชื่อไลบรารี ≠ ชื่อไฟล์ .h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22960" y="4983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Adafruit_Sensor.h ต้องค้นว่า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"Adafruit Unified Sensor"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251960" y="41605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480560" y="43891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5"/>
          <p:cNvSpPr/>
          <p:nvPr/>
        </p:nvSpPr>
        <p:spPr>
          <a:xfrm>
            <a:off x="448056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074920" y="43434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สายหลวม = ปัญหาอันดับ 1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526280" y="498348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อาการ: เจอบ้างไม่เจอบ้าง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Wire.setClock(50000) ช่วยได้เยอะ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251960" y="4160520"/>
            <a:ext cx="7360920" cy="1920240"/>
          </a:xfrm>
          <a:prstGeom prst="roundRect">
            <a:avLst>
              <a:gd name="adj" fmla="val 4762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4434840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074920" y="44348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บทเรียนวิศวกรรมที่สำคัญที่สุดของวันนี้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4526280" y="50292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"อย่าเชื่อสิ่งที่คนอื่นเขียนมา — ตรวจสอบเอง"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E0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ไลบรารีบอกว่า OK ไม่ได้แปลว่ามันทำงานจริง — วิศวกรที่ดีตรวจสอบด้วยตัวเองเสมอ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วิธีเรียนวันนี้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สร้างทีละชั้น — ไม่ใช่แจกโค้ดก้อนเดียว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แต่ละขั้นเพิ่มของใหม่ทีละอย่าง ทดสอบให้ผ่านก่อน แล้วค่อยไปขั้นถัดไป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27249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Blink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0080" y="3090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บอร์ดไหว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78608" y="2852928"/>
            <a:ext cx="18288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88920" y="20116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26080" y="2148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2926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898648" y="27249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I2C Scan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2880360" y="3090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เจอเซ็นเซอร์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18888" y="2852928"/>
            <a:ext cx="18288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29200" y="20116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66360" y="2148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7"/>
          <p:cNvSpPr/>
          <p:nvPr/>
        </p:nvSpPr>
        <p:spPr>
          <a:xfrm>
            <a:off x="51663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38928" y="27249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BME280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120640" y="3090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อุณหภูมิ/ชื้น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59168" y="2852928"/>
            <a:ext cx="18288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269480" y="20116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406640" y="2148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/>
          <p:nvPr/>
        </p:nvSpPr>
        <p:spPr>
          <a:xfrm>
            <a:off x="7406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379208" y="27249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OLED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360920" y="3090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มีจอแล้ว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299448" y="2852928"/>
            <a:ext cx="18288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509760" y="20116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646920" y="21488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29"/>
          <p:cNvSpPr/>
          <p:nvPr/>
        </p:nvSpPr>
        <p:spPr>
          <a:xfrm>
            <a:off x="96469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619488" y="27249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9601200" y="3090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%ความสุก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48640" y="40690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42062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34"/>
          <p:cNvSpPr/>
          <p:nvPr/>
        </p:nvSpPr>
        <p:spPr>
          <a:xfrm>
            <a:off x="6858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4224528"/>
            <a:ext cx="384048" cy="384048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658368" y="47823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แก๊ส</a:t>
            </a:r>
            <a:endParaRPr lang="en-US" sz="1550" dirty="0"/>
          </a:p>
        </p:txBody>
      </p:sp>
      <p:sp>
        <p:nvSpPr>
          <p:cNvPr id="40" name="Text 36"/>
          <p:cNvSpPr/>
          <p:nvPr/>
        </p:nvSpPr>
        <p:spPr>
          <a:xfrm>
            <a:off x="640080" y="51480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เห็นเอทิลีนพุ่ง!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2578608" y="4910328"/>
            <a:ext cx="18288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2788920" y="40690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2F2F2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2926080" y="420624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44" name="Text 40"/>
          <p:cNvSpPr/>
          <p:nvPr/>
        </p:nvSpPr>
        <p:spPr>
          <a:xfrm>
            <a:off x="2926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2898648" y="47823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พัดลม</a:t>
            </a:r>
            <a:endParaRPr lang="en-US" sz="1550" dirty="0"/>
          </a:p>
        </p:txBody>
      </p:sp>
      <p:sp>
        <p:nvSpPr>
          <p:cNvPr id="46" name="Text 42"/>
          <p:cNvSpPr/>
          <p:nvPr/>
        </p:nvSpPr>
        <p:spPr>
          <a:xfrm>
            <a:off x="2880360" y="51480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สั่งงานจริง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4818888" y="4910328"/>
            <a:ext cx="18288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5029200" y="40690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5166360" y="42062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0" name="Text 46"/>
          <p:cNvSpPr/>
          <p:nvPr/>
        </p:nvSpPr>
        <p:spPr>
          <a:xfrm>
            <a:off x="51663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40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224528"/>
            <a:ext cx="384048" cy="384048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5138928" y="47823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METER</a:t>
            </a:r>
            <a:endParaRPr lang="en-US" sz="1550" dirty="0"/>
          </a:p>
        </p:txBody>
      </p:sp>
      <p:sp>
        <p:nvSpPr>
          <p:cNvPr id="53" name="Text 48"/>
          <p:cNvSpPr/>
          <p:nvPr/>
        </p:nvSpPr>
        <p:spPr>
          <a:xfrm>
            <a:off x="5120640" y="51480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รวมร่าง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7059168" y="4910328"/>
            <a:ext cx="18288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55" name="Shape 50"/>
          <p:cNvSpPr/>
          <p:nvPr/>
        </p:nvSpPr>
        <p:spPr>
          <a:xfrm>
            <a:off x="7269480" y="40690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2F2F2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7406640" y="420624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57" name="Text 52"/>
          <p:cNvSpPr/>
          <p:nvPr/>
        </p:nvSpPr>
        <p:spPr>
          <a:xfrm>
            <a:off x="7406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400" dirty="0"/>
          </a:p>
        </p:txBody>
      </p:sp>
      <p:sp>
        <p:nvSpPr>
          <p:cNvPr id="58" name="Text 53"/>
          <p:cNvSpPr/>
          <p:nvPr/>
        </p:nvSpPr>
        <p:spPr>
          <a:xfrm>
            <a:off x="7379208" y="47823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</a:t>
            </a:r>
            <a:endParaRPr lang="en-US" sz="1550" dirty="0"/>
          </a:p>
        </p:txBody>
      </p:sp>
      <p:sp>
        <p:nvSpPr>
          <p:cNvPr id="59" name="Text 54"/>
          <p:cNvSpPr/>
          <p:nvPr/>
        </p:nvSpPr>
        <p:spPr>
          <a:xfrm>
            <a:off x="7360920" y="51480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แยกเหตุ-ผล</a:t>
            </a:r>
            <a:endParaRPr lang="en-US" sz="1200" dirty="0"/>
          </a:p>
        </p:txBody>
      </p:sp>
      <p:sp>
        <p:nvSpPr>
          <p:cNvPr id="60" name="Shape 55"/>
          <p:cNvSpPr/>
          <p:nvPr/>
        </p:nvSpPr>
        <p:spPr>
          <a:xfrm>
            <a:off x="9299448" y="4910328"/>
            <a:ext cx="182880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61" name="Shape 56"/>
          <p:cNvSpPr/>
          <p:nvPr/>
        </p:nvSpPr>
        <p:spPr>
          <a:xfrm>
            <a:off x="9509760" y="406908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F2F2F2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2" name="Shape 57"/>
          <p:cNvSpPr/>
          <p:nvPr/>
        </p:nvSpPr>
        <p:spPr>
          <a:xfrm>
            <a:off x="9646920" y="420624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63" name="Text 58"/>
          <p:cNvSpPr/>
          <p:nvPr/>
        </p:nvSpPr>
        <p:spPr>
          <a:xfrm>
            <a:off x="96469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400" dirty="0"/>
          </a:p>
        </p:txBody>
      </p:sp>
      <p:sp>
        <p:nvSpPr>
          <p:cNvPr id="64" name="Text 59"/>
          <p:cNvSpPr/>
          <p:nvPr/>
        </p:nvSpPr>
        <p:spPr>
          <a:xfrm>
            <a:off x="9619488" y="478231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WiFi</a:t>
            </a:r>
            <a:endParaRPr lang="en-US" sz="1550" dirty="0"/>
          </a:p>
        </p:txBody>
      </p:sp>
      <p:sp>
        <p:nvSpPr>
          <p:cNvPr id="65" name="Text 60"/>
          <p:cNvSpPr/>
          <p:nvPr/>
        </p:nvSpPr>
        <p:spPr>
          <a:xfrm>
            <a:off x="9601200" y="51480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ดูบนมือถือ</a:t>
            </a:r>
            <a:endParaRPr lang="en-US" sz="1200" dirty="0"/>
          </a:p>
        </p:txBody>
      </p:sp>
      <p:sp>
        <p:nvSpPr>
          <p:cNvPr id="66" name="Shape 61"/>
          <p:cNvSpPr/>
          <p:nvPr/>
        </p:nvSpPr>
        <p:spPr>
          <a:xfrm>
            <a:off x="548640" y="617220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7" name="Text 62"/>
          <p:cNvSpPr/>
          <p:nvPr/>
        </p:nvSpPr>
        <p:spPr>
          <a:xfrm>
            <a:off x="868680" y="61996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ห้ามข้าม STEP 6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เป็นขั้นเดียวที่นักเรียน "เห็นกับตา" ว่าผลไม้ปล่อยแก๊สจริง  ·  ทุกไฟล์มี "ลองเล่นดู" + คำถามท้ายโค้ด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หัวใจของอัลกอริทึม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 "อัตราการสุก" ไม่ใช่ความสุก ณ จุดเดียว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828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อัตราการสุก (%/วัน)  =  </a:t>
            </a:r>
            <a:pPr indent="0" marL="0">
              <a:buNone/>
            </a:pPr>
            <a:r>
              <a:rPr lang="en-US" sz="24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ความสุกที่เพิ่มขึ้น (จากสี)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÷  </a:t>
            </a:r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จำนวนวันที่ผ่านไป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5257800" cy="3017520"/>
          </a:xfrm>
          <a:prstGeom prst="roundRect">
            <a:avLst>
              <a:gd name="adj" fmla="val 3030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291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ความสุกจากสี (ใช้สีล้วน ๆ)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แปลง RGB → Hue (องศาสี)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เขียว (~120°) = ดิบ 0%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เหลือง (~55°) = สุก 100%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ไม่เอาค่าแก๊สมาปน เพราะแก๊สคือ "เหตุ"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035040" y="3063240"/>
            <a:ext cx="55778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5508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สิ่งที่เราต้องการเห็น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0" y="5715000"/>
            <a:ext cx="40233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0" y="4023360"/>
            <a:ext cx="0" cy="16916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57698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ระดับเอทิลีน →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49240" y="47320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อัตราการสุก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95160" y="5532120"/>
            <a:ext cx="3566160" cy="-1188720"/>
          </a:xfrm>
          <a:prstGeom prst="line">
            <a:avLst/>
          </a:prstGeom>
          <a:noFill/>
          <a:ln w="31750">
            <a:solidFill>
              <a:srgbClr val="97BC62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7278624" y="5312664"/>
            <a:ext cx="164592" cy="164592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8" name="Text 15"/>
          <p:cNvSpPr/>
          <p:nvPr/>
        </p:nvSpPr>
        <p:spPr>
          <a:xfrm>
            <a:off x="7196328" y="498348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0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50224" y="4764024"/>
            <a:ext cx="164592" cy="16459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7"/>
          <p:cNvSpPr/>
          <p:nvPr/>
        </p:nvSpPr>
        <p:spPr>
          <a:xfrm>
            <a:off x="8567928" y="443484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113264" y="4215384"/>
            <a:ext cx="164592" cy="164592"/>
          </a:xfrm>
          <a:prstGeom prst="ellipse">
            <a:avLst/>
          </a:prstGeom>
          <a:solidFill>
            <a:srgbClr val="E57E25"/>
          </a:solidFill>
          <a:ln/>
        </p:spPr>
      </p:sp>
      <p:sp>
        <p:nvSpPr>
          <p:cNvPr id="22" name="Text 19"/>
          <p:cNvSpPr/>
          <p:nvPr/>
        </p:nvSpPr>
        <p:spPr>
          <a:xfrm>
            <a:off x="10030968" y="388620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72200" y="577900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มีเอทิลีนสูงสุด → สุกเร็วสุด   |   C ถูกดูดซับ → สุกช้าสุด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แผนการอบรม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กำหนดการ 6 ชั่วโมง (09:00 – 16:00)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เวลา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กิจกรรม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09:00–09:30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วิทยาศาสตร์: เอทิลีนเร่งการสุก + ระบบปิด + ภาพรวมบันได 10 ขั้น + กับดัก 5 ข้อ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09:30–10:15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STEP 1–2: ตั้งค่า IDE (USB CDC + PSRAM!), RGB LED, I2C Scan — ต้องเจอครบ 4 ตัว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10:15–11:00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STEP 3–4: อ่าน BME280 → แสดงผลบนจอ OLED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11:00–12:00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STEP 5: เซ็นเซอร์สี → คำนวณ %ความสุกด้วยตัวเอง (Hue)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12:00–13:00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พักกลางวัน  (เตรียมกล่องกล้วยสุกไว้ให้แก๊สสะสม)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13:00–13:50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STEP 6: วัดแก๊ส! ปิดกล่อง → เห็น TVOC ไต่ขึ้นกับตา (ห้ามข้าม)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13:50–14:20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STEP 7: พัดลม + ทรานซิสเตอร์ (สั่งงานโลกจริง)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14:20–15:00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STEP 8: รวมร่างเป็นเครื่องวัดความสุก แล้วลองวัดมะม่วงจริง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15:00–15:40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STEP 9–10: โหมด LAB (แยกเหตุ-ผล) + WiFi Dashboard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15:40–16:00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จัดกล่อง A/B/C/D + วางแผนเก็บข้อมูล 3–5 วัน + ถาม-ตอบ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3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Core (ต้องเสร็จ): STEP 1–6 และ 8  ·  Stretch (ถ้าทัน): STEP 7, 9, 10 — ทำต่อที่โรงเรียนได้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การทดลองหลัก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กล่อง พิสูจน์ว่า "เอทิลีนเร่งการสุก"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คำถามวิจัย: ถ้าเพิ่ม/ลดเอทิลีนในกล่อง มะม่วงจะสุกเร็วขึ้น/ช้าลงจริงไหม?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00200" y="2148840"/>
            <a:ext cx="548640" cy="548640"/>
          </a:xfrm>
          <a:prstGeom prst="ellipse">
            <a:avLst/>
          </a:prstGeom>
          <a:solidFill>
            <a:srgbClr val="E57E25"/>
          </a:solidFill>
          <a:ln/>
        </p:spPr>
      </p:sp>
      <p:sp>
        <p:nvSpPr>
          <p:cNvPr id="8" name="Text 5"/>
          <p:cNvSpPr/>
          <p:nvPr/>
        </p:nvSpPr>
        <p:spPr>
          <a:xfrm>
            <a:off x="16002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2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8346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3101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มะม่วง + กล้วยสุกงอม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58368" y="3749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เพิ่มเอทิลีน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8368" y="42062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เอทิลีนสูงสุด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สุกเร็วที่สุด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401568" y="196596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53128" y="214884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2"/>
          <p:cNvSpPr/>
          <p:nvPr/>
        </p:nvSpPr>
        <p:spPr>
          <a:xfrm>
            <a:off x="4453128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2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28346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11296" y="33101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มะม่วงอย่างเดียว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3511296" y="3749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control (ตัวเทียบ)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721608" y="4114800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511296" y="42062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เอทิลีนปกติ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สุกปกติ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54496" y="196596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E7F0FB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06056" y="2148840"/>
            <a:ext cx="548640" cy="548640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24" name="Text 19"/>
          <p:cNvSpPr/>
          <p:nvPr/>
        </p:nvSpPr>
        <p:spPr>
          <a:xfrm>
            <a:off x="7306056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2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283464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64224" y="33101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มะม่วง + KMnO₄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364224" y="3749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0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ดูดซับเอทิลีน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574536" y="4114800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364224" y="42062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เอทิลีนต่ำสุด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สุกช้าที่สุด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107424" y="196596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F1F1F1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158984" y="2148840"/>
            <a:ext cx="548640" cy="5486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32" name="Text 26"/>
          <p:cNvSpPr/>
          <p:nvPr/>
        </p:nvSpPr>
        <p:spPr>
          <a:xfrm>
            <a:off x="10158984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2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424" y="2834640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217152" y="33101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กล่องเปล่า</a:t>
            </a:r>
            <a:endParaRPr lang="en-US" sz="1450" dirty="0"/>
          </a:p>
        </p:txBody>
      </p:sp>
      <p:sp>
        <p:nvSpPr>
          <p:cNvPr id="35" name="Text 28"/>
          <p:cNvSpPr/>
          <p:nvPr/>
        </p:nvSpPr>
        <p:spPr>
          <a:xfrm>
            <a:off x="9217152" y="3749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baseline เซ็นเซอร์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9427464" y="4114800"/>
            <a:ext cx="2011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217152" y="42062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ไม่มีเอทิลีน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ไม่มีการสุก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66928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417320" y="5532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ถ้าได้ผล  เอทิลีน: A &gt; B &gt; C   และ   อัตราการสุก: A &gt; B &gt; C  ไปในทางเดียวกัน = พิสูจน์สำเร็จ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วางแผนเก็บข้อมูล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แก๊สเห็นวันนี้ — แต่ "การสุก" ต้องรอหลายวัน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นี่คือจุดที่ทีมส่วนใหญ่พลาด: ถ้าเก็บข้อมูลแค่วันเดียว จะพิสูจน์ "อัตราการสุก" ไม่ได้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05840" y="2514600"/>
            <a:ext cx="996696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05256" y="2414016"/>
            <a:ext cx="201168" cy="20116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" y="1947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 (13 ก.ค.)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716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ประกอบ + เห็นเอทิลีน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พุ่งใน 10–20 นาที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94353" y="2414016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8"/>
          <p:cNvSpPr/>
          <p:nvPr/>
        </p:nvSpPr>
        <p:spPr>
          <a:xfrm>
            <a:off x="3197657" y="1947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 2–3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197657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 BOOT บันทึก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วันละครั้ง เวลาเดิม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83450" y="2414016"/>
            <a:ext cx="201168" cy="201168"/>
          </a:xfrm>
          <a:prstGeom prst="ellipse">
            <a:avLst/>
          </a:prstGeom>
          <a:solidFill>
            <a:srgbClr val="E57E25"/>
          </a:solidFill>
          <a:ln/>
        </p:spPr>
      </p:sp>
      <p:sp>
        <p:nvSpPr>
          <p:cNvPr id="14" name="Text 11"/>
          <p:cNvSpPr/>
          <p:nvPr/>
        </p:nvSpPr>
        <p:spPr>
          <a:xfrm>
            <a:off x="6486754" y="1947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 4–5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86754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สีเริ่มต่างกันชัด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ระหว่างกล่อง A/B/C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872216" y="2414016"/>
            <a:ext cx="201168" cy="201168"/>
          </a:xfrm>
          <a:prstGeom prst="ellipse">
            <a:avLst/>
          </a:prstGeom>
          <a:solidFill>
            <a:srgbClr val="1F3D2B"/>
          </a:solidFill>
          <a:ln/>
        </p:spPr>
      </p:sp>
      <p:sp>
        <p:nvSpPr>
          <p:cNvPr id="17" name="Text 14"/>
          <p:cNvSpPr/>
          <p:nvPr/>
        </p:nvSpPr>
        <p:spPr>
          <a:xfrm>
            <a:off x="9829800" y="1947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23–26 ก.ค.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82980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แข่งแพรกษาวิชาการ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พร้อมกราฟหลายวัน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97764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20624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17320" y="4206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กติกาให้ข้อมูลน่าเชื่อถือ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914400" y="480060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บันทึกเวลาเดิมทุกวัน (เช่น 09:00)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วางกล่องที่เดิม อุณหภูมิใกล้เคียงกัน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วัดสีจุดเดิมของผลเดิมทุกครั้ง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263640" y="3977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2062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0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ข้อจำกัดที่ต้องเขียนในรายงาน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629400" y="480060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SGP30 วัด "สารระเหยรวม (TVOC)" ไม่ใช่เอทิลีนเพียว ๆ — เป็นพร็อกซี่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FE0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เชื่อการ "เปรียบเทียบระหว่างกล่อง" ไม่ใช่ตัวเลขสัมบูรณ์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629400" y="5806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กรรมการชอบทีมที่บอกข้อจำกัดตัวเองได้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จุดขายของโปรเจกต์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ทำวิทยาศาสตร์ก่อน แล้วเอาผลไปสร้างเครื่องมือ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สองโหมดไม่ได้แยกกันอยู่ — มัน "ป้อนกันเอง" เป็นวงจร นี่คือเรื่องเล่าที่ทำให้โปรเจกต์โตกว่างานประกวดทั่วไป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103120" y="233172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21031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154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703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 LAB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005840" y="41148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 4 กล่อง เก็บข้อมูล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หลายวัน ได้กราฟเหตุ–ผล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069080" y="3474720"/>
            <a:ext cx="50292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617720" y="21031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97880" y="2331720"/>
            <a:ext cx="640080" cy="640080"/>
          </a:xfrm>
          <a:prstGeom prst="ellipse">
            <a:avLst/>
          </a:prstGeom>
          <a:solidFill>
            <a:srgbClr val="E57E25"/>
          </a:solidFill>
          <a:ln/>
        </p:spPr>
      </p:sp>
      <p:sp>
        <p:nvSpPr>
          <p:cNvPr id="15" name="Text 11"/>
          <p:cNvSpPr/>
          <p:nvPr/>
        </p:nvSpPr>
        <p:spPr>
          <a:xfrm>
            <a:off x="58978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1546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3703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คาลิเบรตเกณฑ์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800600" y="41148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รู้ว่ามะม่วงพันธุ์นี้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"สุกพอดี" ที่ Hue เท่าไร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863840" y="3474720"/>
            <a:ext cx="50292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8412480" y="210312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92640" y="233172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17"/>
          <p:cNvSpPr/>
          <p:nvPr/>
        </p:nvSpPr>
        <p:spPr>
          <a:xfrm>
            <a:off x="96926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31546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49640" y="3703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โหมด METER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595360" y="41148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เครื่องวัดที่แม่นขึ้น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เพราะอิงข้อมูลจริง ไม่ใช่เดา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2377440" y="5074920"/>
            <a:ext cx="82753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dash"/>
          </a:ln>
        </p:spPr>
      </p:sp>
      <p:sp>
        <p:nvSpPr>
          <p:cNvPr id="27" name="Shape 21"/>
          <p:cNvSpPr/>
          <p:nvPr/>
        </p:nvSpPr>
        <p:spPr>
          <a:xfrm>
            <a:off x="2377440" y="4846320"/>
            <a:ext cx="0" cy="22860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10652760" y="4846320"/>
            <a:ext cx="0" cy="22860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200400" y="51206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เก็บข้อมูลเพิ่ม → ปรับเกณฑ์ให้แม่นขึ้นอีก (วนซ้ำได้เรื่อย ๆ)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22960" y="557784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779008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566928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เล่ากับกรรมการว่า: "เราไม่ได้เดาเกณฑ์ เราทดลองหาเกณฑ์เอง แล้วเอาไปทำเป็นเครื่องมือใช้จริง"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ต่อยอดสู่ AI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เพิ่มกล้อง + TinyML — และของลับที่เรามีอยู่แล้ว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จุดตายของโปรเจกต์ AI โรงเรียนทั่วไปคือ "การ label ข้อมูล" — เด็กต้องเดาเองว่ารูปไหนสุก ข้อมูลเลยมั่ว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10312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 MangoBox มีของที่คนอื่นไม่มี: 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เซ็นเซอร์บอกความสุกเป็นตัวเลขอยู่แล้ว → ถ่ายรูปพร้อมกัน = ข้อมูล "ติดป้ายตัวเองอัตโนมัติ"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85800" y="3337560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011680" y="352044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7"/>
          <p:cNvSpPr/>
          <p:nvPr/>
        </p:nvSpPr>
        <p:spPr>
          <a:xfrm>
            <a:off x="20116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42062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4681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เก็บชุดข้อมูล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68680" y="5029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กล้องถ่ายรูป + เซ็นเซอร์บอก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ความสุก % ในวินาทีเดียวกัน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ได้ข้อมูลติดป้ายฟรี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023360" y="4572000"/>
            <a:ext cx="41148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480560" y="3337560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806440" y="3520440"/>
            <a:ext cx="548640" cy="548640"/>
          </a:xfrm>
          <a:prstGeom prst="ellipse">
            <a:avLst/>
          </a:prstGeom>
          <a:solidFill>
            <a:srgbClr val="E57E25"/>
          </a:solidFill>
          <a:ln/>
        </p:spPr>
      </p:sp>
      <p:sp>
        <p:nvSpPr>
          <p:cNvPr id="18" name="Text 13"/>
          <p:cNvSpPr/>
          <p:nvPr/>
        </p:nvSpPr>
        <p:spPr>
          <a:xfrm>
            <a:off x="58064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2062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17720" y="4681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เทรนโมเดล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663440" y="5029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Edge Impulse: จำแนกภาพ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ดิบ / พอดี / งอม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(MobileNet 96×96)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818120" y="4572000"/>
            <a:ext cx="41148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8275320" y="3337560"/>
            <a:ext cx="3291840" cy="2514600"/>
          </a:xfrm>
          <a:prstGeom prst="roundRect">
            <a:avLst>
              <a:gd name="adj" fmla="val 3636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601200" y="352044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19"/>
          <p:cNvSpPr/>
          <p:nvPr/>
        </p:nvSpPr>
        <p:spPr>
          <a:xfrm>
            <a:off x="960120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420624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12480" y="4681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ทำนายวันสุก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458200" y="5029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รวมภาพ (เห็นตอนนี้)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แก๊ส (บอกอนาคต)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"อีก 3 วันจะสุกพอดี"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60350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822960" y="605332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กล้องเห็นสี/รอยช้ำ/ผิวทั้งลูก แต่ "ดมกลิ่นไม่ได้" — แก๊สจึงยังจำเป็น เพราะบอกอนาคตที่ตายังไม่เห็น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ถ้าจะทำจริง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ต้องใช้อะไร และพลาดตรงไหนบ่อยที่สุด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623560" cy="4389120"/>
          </a:xfrm>
          <a:prstGeom prst="roundRect">
            <a:avLst>
              <a:gd name="adj" fmla="val 2083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202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ฮาร์ดแวร์ที่ต้องเพิ่ม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บอร์ด DevKitC-1 ที่ใช้อยู่ ไม่มีขั้วต่อกล้อง — ต้องใช้บอร์ดที่มีกล้องแยก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788920"/>
          <a:ext cx="49834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834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ตัวเลือก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จุดเด่น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XIAO ESP32S3 Sense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(แนะนำ)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กล้อง + 8MB PSRAM + ช่อง microSD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(เก็บรูปหลายร้อยใบได้)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ESP32-S3 N16R8 CAM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สเปกใกล้บอร์ดเดิม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026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แต่ไม่มีช่อง SD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ราคาราว 450–700 บาท · ซื้อ 1–2 ตัวก็พอ ใช้เป็นชุดต้นแบบ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68680" y="53949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microSD สำคัญมาก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เก็บชุดข้อมูลต้องใช้รูปหลายร้อยใบ ถ้าไม่มี SD ต้องส่งผ่าน WiFi ทีละใบ ช้ามาก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0" y="169164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202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กับดักที่พลาดกันบ่อยที่สุด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720840" y="2514600"/>
            <a:ext cx="45720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แสงต้องคงที่!</a:t>
            </a:r>
            <a:endParaRPr lang="en-US" sz="125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ถ้าแสงเปลี่ยน โมเดลจะเรียน "แสง" แทน "ความสุก" — ต้องมีไฟ LED ในกล่อง + ระยะกล้องคงที่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ต้องมีรูปพอ</a:t>
            </a:r>
            <a:endParaRPr lang="en-US" sz="125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อย่างน้อย 100–200 รูปต่อคลาส และต้องมีมะม่วงหลายลูก ไม่ใช่ลูกเดียวถ่าย 200 ครั้ง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แยกชุดทดสอบไว้ต่างหาก</a:t>
            </a:r>
            <a:endParaRPr lang="en-US" sz="125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ถ้าเทสต์ด้วยรูปที่เทรน จะได้ 99% แบบหลอกตัวเอง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626364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22960" y="627278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เส้นทางนี้ต่อยอดไปสู่: คัดเกรดมะม่วงส่งออก · ลดขยะอาหาร · แอปมือถือถ่ายรูปเช็คความสุก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7E2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ก่อนขึ้นเวที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188720" y="71323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เคล็ดลับนำเสนอให้กรรมการประทับใจ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โชว์กราฟจริง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41248" y="26974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 VOC/สีที่ค่อย ๆ เปลี่ยน เล่าเรื่องได้ดีกว่าตัวเลขนิ่ง ๆ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251960" y="17373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0116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1208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ชูความสัมพันธ์เหตุ-ผล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544568" y="26974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เล่าว่าเอทิลีนสูง → สุกเร็ว ไม่ใช่แค่โชว์ตัวเลข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955280" y="173736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01168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1540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control เสมอ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247888" y="26974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กล่องเปรียบเทียบทำให้ผลน่าเชื่อถือ กรรมการชอบ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0624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เชื่อมกับชีวิตจริง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41248" y="489204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ลดขยะอาหาร / คัดผลไม้ส่งออก — ตอบโจทย์สังคม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25196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EAF4EC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206240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1208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เดโมสด (ถ้าไหว)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4544568" y="489204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Dashboard บนมือถือให้กรรมการดูค่าเรียลไทม์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95528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DF3E3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4206240"/>
            <a:ext cx="548640" cy="5486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91540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บอกข้อจำกัดตรง ๆ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247888" y="489204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6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รู้ว่าอะไรยังไม่แม่น = โตทางวิชาการ กรรมการให้คะแนน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5486400" cy="5486400"/>
          </a:xfrm>
          <a:prstGeom prst="ellipse">
            <a:avLst/>
          </a:prstGeom>
          <a:solidFill>
            <a:srgbClr val="2E7D3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103120"/>
            <a:ext cx="4572000" cy="4572000"/>
          </a:xfrm>
          <a:prstGeom prst="ellipse">
            <a:avLst/>
          </a:prstGeom>
          <a:solidFill>
            <a:srgbClr val="F4C430">
              <a:alpha val="2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สรุปวันนี้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จากมะม่วงลูกหนึ่ง สู่ระบบเซ็นเซอร์ที่วัดได้จริง</a:t>
            </a:r>
            <a:endParaRPr lang="en-US" sz="3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17296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เข้าใจวิทยาศาสตร์ของเอทิลีนและการสุก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67328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73989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ประกอบ ESP32 + เซ็นเซอร์บนบัส I2C ได้เอง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34256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430682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ใช้ได้ 2 โหมด: METER (คัดผลไม้) และ LAB (พิสูจน์เหตุ–ผล)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01184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48737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ออกแบบการทดลองและนำเสนอแบบมีหลักการ</a:t>
            </a:r>
            <a:endParaRPr lang="en-US" sz="1650" dirty="0"/>
          </a:p>
        </p:txBody>
      </p:sp>
      <p:sp>
        <p:nvSpPr>
          <p:cNvPr id="15" name="Shape 8"/>
          <p:cNvSpPr/>
          <p:nvPr/>
        </p:nvSpPr>
        <p:spPr>
          <a:xfrm>
            <a:off x="640080" y="56692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8321F"/>
          </a:solidFill>
          <a:ln w="12700">
            <a:solidFill>
              <a:srgbClr val="E4EBE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91440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C43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เพิ่มกล้อง + TinyML ทำนายวันสุก (ข้อมูลติดป้ายเองจากเซ็นเซอร์) · คัดเกรดส่งออก · ลดขยะอาหาร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MangoBox Workshop</dc:title>
  <dc:subject>PptxGenJS Presentation</dc:subject>
  <dc:creator>ผศ.ดร.สัญชัย เอียดปราบ</dc:creator>
  <cp:lastModifiedBy>ผศ.ดร.สัญชัย เอียดปราบ</cp:lastModifiedBy>
  <cp:revision>1</cp:revision>
  <dcterms:created xsi:type="dcterms:W3CDTF">2026-07-12T17:32:07Z</dcterms:created>
  <dcterms:modified xsi:type="dcterms:W3CDTF">2026-07-12T17:32:07Z</dcterms:modified>
</cp:coreProperties>
</file>